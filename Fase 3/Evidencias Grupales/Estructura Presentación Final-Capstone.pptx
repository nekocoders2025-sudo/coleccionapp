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Corbel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ipH3j+QB8eAE7jVfznqwXtcp1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821245-6D05-4CA6-93FB-6E54D52DD8C0}">
  <a:tblStyle styleId="{32821245-6D05-4CA6-93FB-6E54D52DD8C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4472C4"/>
          </a:solidFill>
        </a:fill>
      </a:tcStyle>
    </a:firstRow>
    <a:neCell>
      <a:tcTxStyle/>
    </a:neCell>
    <a:nwCell>
      <a:tcTxStyle/>
    </a:nwCell>
  </a:tblStyle>
  <a:tblStyle styleId="{132D16E6-58C1-40DD-A2B4-E11CACF0411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133A580-90D6-4E03-9F9D-8B30B89F49B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rgbClr val="4472C4">
              <a:alpha val="20000"/>
            </a:srgbClr>
          </a:solidFill>
        </a:fill>
      </a:tcStyle>
    </a:band1H>
    <a:band2H>
      <a:tcTxStyle/>
    </a:band2H>
    <a:band1V>
      <a:tcTxStyle/>
      <a:tcStyle>
        <a:fill>
          <a:solidFill>
            <a:srgbClr val="4472C4">
              <a:alpha val="20000"/>
            </a:srgb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rgbClr val="4472C4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Corbel-bold.fntdata"/><Relationship Id="rId21" Type="http://schemas.openxmlformats.org/officeDocument/2006/relationships/font" Target="fonts/Corbel-regular.fntdata"/><Relationship Id="rId24" Type="http://schemas.openxmlformats.org/officeDocument/2006/relationships/font" Target="fonts/Corbel-boldItalic.fntdata"/><Relationship Id="rId23" Type="http://schemas.openxmlformats.org/officeDocument/2006/relationships/font" Target="fonts/Corbel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Final Capstone</a:t>
            </a:r>
            <a:br>
              <a:rPr lang="es-CL"/>
            </a:br>
            <a:r>
              <a:rPr lang="es-CL" sz="3200"/>
              <a:t>“ColeccionAPP</a:t>
            </a:r>
            <a:r>
              <a:rPr lang="es-CL" sz="3200"/>
              <a:t>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352" y="3300425"/>
            <a:ext cx="2638751" cy="328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879677" y="1153616"/>
            <a:ext cx="2993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2"/>
          <p:cNvGrpSpPr/>
          <p:nvPr/>
        </p:nvGrpSpPr>
        <p:grpSpPr>
          <a:xfrm>
            <a:off x="4302302" y="2038982"/>
            <a:ext cx="5762100" cy="3004689"/>
            <a:chOff x="1018803" y="-19"/>
            <a:chExt cx="5762100" cy="4590114"/>
          </a:xfrm>
        </p:grpSpPr>
        <p:sp>
          <p:nvSpPr>
            <p:cNvPr id="93" name="Google Shape;93;p2"/>
            <p:cNvSpPr/>
            <p:nvPr/>
          </p:nvSpPr>
          <p:spPr>
            <a:xfrm>
              <a:off x="1018803" y="-19"/>
              <a:ext cx="5762100" cy="1590000"/>
            </a:xfrm>
            <a:prstGeom prst="roundRect">
              <a:avLst>
                <a:gd fmla="val 10000" name="adj"/>
              </a:avLst>
            </a:prstGeom>
            <a:solidFill>
              <a:srgbClr val="FF6037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rbel"/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240876" y="-19"/>
              <a:ext cx="5318100" cy="15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Noelia Peña</a:t>
              </a:r>
              <a:endPara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Diseñador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018803" y="2348495"/>
              <a:ext cx="5762100" cy="2241600"/>
            </a:xfrm>
            <a:prstGeom prst="roundRect">
              <a:avLst>
                <a:gd fmla="val 10000" name="adj"/>
              </a:avLst>
            </a:prstGeom>
            <a:solidFill>
              <a:srgbClr val="FF6037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rbel"/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240800" y="2348497"/>
              <a:ext cx="5318100" cy="17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Diego Alfredo Quiroz Ormazabal</a:t>
              </a:r>
              <a:endParaRPr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1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DBA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QA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095" y="3288929"/>
            <a:ext cx="2638705" cy="3083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990600" y="2169776"/>
            <a:ext cx="4254600" cy="38373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</a:rPr>
              <a:t>El coleccionismo es un hobby creciente, pero el manejo de colecciones en expansión se vuelve una tarea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</a:rPr>
              <a:t>compleja y tediosa.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</a:rPr>
              <a:t>La mayoría de los coleccionistas mantienen el control de sus productos de forma manual, usando planillas Excel.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</a:rPr>
              <a:t>Esta pérdida de control puede resultar en un impacto económico debido a compras duplicadas o dificultad para administrar sus activos.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664635" y="2177325"/>
            <a:ext cx="4399113" cy="3366225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</a:rPr>
              <a:t>Coleccion APP</a:t>
            </a:r>
            <a:r>
              <a:rPr lang="es-CL" sz="1600">
                <a:solidFill>
                  <a:schemeClr val="dk1"/>
                </a:solidFill>
              </a:rPr>
              <a:t>, una App Móvil diseñada para facilitar el registro y la administración de colecciones.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</a:rPr>
              <a:t>El principal diferenciador es la funcionalidad de registro automático de productos con solo tomar una foto, utilizando herramientas de reconocimiento de imágenes con Inteligencia Artificial (IA)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456903" y="3736258"/>
            <a:ext cx="893097" cy="48649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614515" y="2040571"/>
            <a:ext cx="10962967" cy="138842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CL" sz="1600">
                <a:solidFill>
                  <a:schemeClr val="dk1"/>
                </a:solidFill>
              </a:rPr>
              <a:t>Desarrollar e implementar una aplicación móvil (ColeccionAPP) que facilite el registro y la administración de colecciones de productos para los usuarios, integrando un módulo de reconocimiento de imágenes con IA para automatizar la catalogación.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39925" y="4567299"/>
            <a:ext cx="10962900" cy="1884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CL" sz="1600">
                <a:solidFill>
                  <a:schemeClr val="dk1"/>
                </a:solidFill>
              </a:rPr>
              <a:t>Implementar un sistema de registro y autenticación de usuarios que incluya la integración con cuentas de Google.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CL" sz="1600">
                <a:solidFill>
                  <a:schemeClr val="dk1"/>
                </a:solidFill>
              </a:rPr>
              <a:t>Desarrollar la funcionalidad principal para que los usuarios puedan crear y administrar colecciones personalizadas.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CL" sz="1600">
                <a:solidFill>
                  <a:schemeClr val="dk1"/>
                </a:solidFill>
              </a:rPr>
              <a:t>Entrenar un modelo de IA para la clasificación de imágenes con una precisión mínima del 85% y su posterior integración a la aplicación para el registro automático.</a:t>
            </a:r>
            <a:endParaRPr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s-CL" sz="1600">
                <a:solidFill>
                  <a:schemeClr val="dk1"/>
                </a:solidFill>
              </a:rPr>
              <a:t>Crear y gestionar un repositorio de Productos en el mercado con capacidades de búsqueda avanzada y filtros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96850" y="383842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 y Limitaciones del Proyecto</a:t>
            </a:r>
            <a:endParaRPr/>
          </a:p>
        </p:txBody>
      </p:sp>
      <p:graphicFrame>
        <p:nvGraphicFramePr>
          <p:cNvPr id="119" name="Google Shape;119;p5"/>
          <p:cNvGraphicFramePr/>
          <p:nvPr/>
        </p:nvGraphicFramePr>
        <p:xfrm>
          <a:off x="576776" y="17840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{32821245-6D05-4CA6-93FB-6E54D52DD8C0}</a:tableStyleId>
              </a:tblPr>
              <a:tblGrid>
                <a:gridCol w="4979975"/>
                <a:gridCol w="4979975"/>
              </a:tblGrid>
              <a:tr h="45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Qué hace el Sistema (Funciones Clave)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Qué no hace (Restricciones / Futuro)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Registro de Productos Automático</a:t>
                      </a:r>
                      <a:r>
                        <a:rPr lang="es-CL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con IA y manual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 limita inicialmente a figuras </a:t>
                      </a:r>
                      <a:r>
                        <a:rPr b="1" lang="es-CL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Storm Collectibles </a:t>
                      </a:r>
                      <a:r>
                        <a:rPr b="1" lang="es-CL"/>
                        <a:t>- Storm Arena lanzadas el </a:t>
                      </a:r>
                      <a:r>
                        <a:rPr b="1" lang="es-CL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Administración</a:t>
                      </a:r>
                      <a:r>
                        <a:rPr lang="es-CL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de colecciones (crear, editar, eliminar)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El reconocimiento por IA se entrenará solo con imágenes disponibles en </a:t>
                      </a:r>
                      <a:r>
                        <a:rPr b="1" lang="es-CL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datasets abiertos.</a:t>
                      </a:r>
                      <a:endParaRPr b="1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Búsqueda avanzada</a:t>
                      </a:r>
                      <a:r>
                        <a:rPr lang="es-CL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de productos </a:t>
                      </a:r>
                      <a:r>
                        <a:rPr lang="es-CL"/>
                        <a:t>con</a:t>
                      </a:r>
                      <a:r>
                        <a:rPr lang="es-CL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filtros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Funcionalidades sociales</a:t>
                      </a:r>
                      <a:r>
                        <a:rPr lang="es-CL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(compartir fotos, comentar) están consideradas como requisitos futuros.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/>
                        <a:t>Administración </a:t>
                      </a:r>
                      <a:r>
                        <a:rPr lang="es-CL"/>
                        <a:t>de un repositorio general de figuras (crear, editar, eliminar)</a:t>
                      </a:r>
                      <a:endParaRPr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solidFill>
                            <a:schemeClr val="dk1"/>
                          </a:solidFill>
                        </a:rPr>
                        <a:t>La </a:t>
                      </a:r>
                      <a:r>
                        <a:rPr b="1" lang="es-CL">
                          <a:solidFill>
                            <a:schemeClr val="dk1"/>
                          </a:solidFill>
                        </a:rPr>
                        <a:t>Integración con Proveedores de Pago</a:t>
                      </a:r>
                      <a:r>
                        <a:rPr lang="es-CL">
                          <a:solidFill>
                            <a:schemeClr val="dk1"/>
                          </a:solidFill>
                        </a:rPr>
                        <a:t> (WebPay, PayPal) se considera una </a:t>
                      </a:r>
                      <a:r>
                        <a:rPr b="1" lang="es-CL">
                          <a:solidFill>
                            <a:schemeClr val="dk1"/>
                          </a:solidFill>
                        </a:rPr>
                        <a:t>No Conformidad Abierta</a:t>
                      </a:r>
                      <a:r>
                        <a:rPr lang="es-CL">
                          <a:solidFill>
                            <a:schemeClr val="dk1"/>
                          </a:solidFill>
                        </a:rPr>
                        <a:t> para una fase evolutiva.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graphicFrame>
        <p:nvGraphicFramePr>
          <p:cNvPr id="125" name="Google Shape;125;p6"/>
          <p:cNvGraphicFramePr/>
          <p:nvPr/>
        </p:nvGraphicFramePr>
        <p:xfrm>
          <a:off x="566738" y="19768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{132D16E6-58C1-40DD-A2B4-E11CACF0411C}</a:tableStyleId>
              </a:tblPr>
              <a:tblGrid>
                <a:gridCol w="623025"/>
                <a:gridCol w="2741275"/>
                <a:gridCol w="7694225"/>
              </a:tblGrid>
              <a:tr h="28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Nombre del Requerimiento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Descripción Clave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8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R.1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Registrar usuario en la App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Permitir el registro de cuenta con correo/contraseña o cuenta de Google.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R.2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Iniciar sesión de usuario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Permitir el acceso al sistema con credenciales o cuenta de Google.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R.3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Crear colecciones/listas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Permitir a los usuarios crear listas personalizadas (adquiridos o deseados).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R.4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Administrar colecciones/listas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Permitir editar el nombre o eliminar colecciones/listas.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R.5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Registrar manualmente</a:t>
                      </a: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 productos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Permitir registrar productos </a:t>
                      </a: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seleccionandolos</a:t>
                      </a: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 del </a:t>
                      </a: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Repositorio de Productos en el Mercado</a:t>
                      </a: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 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R.6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Registrar automáticamente</a:t>
                      </a: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 productos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Funcionalidad Clave:</a:t>
                      </a: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 Permitir el registro de productos mediante una foto y el uso de </a:t>
                      </a: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Inteligencia Artificial</a:t>
                      </a: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 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R.8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Administrar productos en colecciones/listas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Permitir a los usuarios eliminar productos o cambiar el estado de productos (Deseado / Adquirido) de sus colecciones/listas.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R.9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Buscar</a:t>
                      </a: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 productos en la aplicación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Permitir a los usuarios realizar búsquedas de productos utilizando un cuadro de texto para ingresar palabras y/o con ayuda de filtros de búsqueda.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R.16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Actualizar registros en el repositorio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Funcionalidad de Administrador:</a:t>
                      </a:r>
                      <a:r>
                        <a:rPr lang="es-CL" sz="1000">
                          <a:solidFill>
                            <a:srgbClr val="1F1F1F"/>
                          </a:solidFill>
                        </a:rPr>
                        <a:t> Permitir la eliminación, modificación o inclusión de nuevos registros en el repositorio de mercado.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841416" y="1054443"/>
            <a:ext cx="10515600" cy="723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  <p:graphicFrame>
        <p:nvGraphicFramePr>
          <p:cNvPr id="131" name="Google Shape;131;p7"/>
          <p:cNvGraphicFramePr/>
          <p:nvPr/>
        </p:nvGraphicFramePr>
        <p:xfrm>
          <a:off x="566738" y="19768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{132D16E6-58C1-40DD-A2B4-E11CACF0411C}</a:tableStyleId>
              </a:tblPr>
              <a:tblGrid>
                <a:gridCol w="623025"/>
                <a:gridCol w="2741275"/>
                <a:gridCol w="7694225"/>
              </a:tblGrid>
              <a:tr h="28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Nombre del Requerimiento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Descripción Clave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8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R.7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Clasificar imágenes con inteligencia artificial</a:t>
                      </a:r>
                      <a:endParaRPr sz="1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Entrenar modelo de clasificación de imágenes con inteligencia artificial para identificar los productos en el repositorio con una </a:t>
                      </a:r>
                      <a:r>
                        <a:rPr lang="es-CL" sz="1000"/>
                        <a:t>precisión</a:t>
                      </a:r>
                      <a:r>
                        <a:rPr lang="es-CL" sz="1000"/>
                        <a:t> del 85%.</a:t>
                      </a:r>
                      <a:endParaRPr sz="1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R.10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Filtrar búsqueda de productos</a:t>
                      </a:r>
                      <a:endParaRPr sz="1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Crear filtros para búsqueda de productos considerando los parámetros asociados al repositorio de productos.</a:t>
                      </a:r>
                      <a:endParaRPr sz="1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R.12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Visualizar colecciones/listas (Mis Colecciones)</a:t>
                      </a:r>
                      <a:endParaRPr sz="1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Presentar las colecciones/listas del usuario en formato de 'Listado' junto a la siguiente información: Nombre de la Colección, Cantidad de productos y Porcentaje de Completitud (Calculado en base a la cantidad de productos deseados vs productos adquiridos) </a:t>
                      </a:r>
                      <a:endParaRPr sz="1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R.14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Integrar App con servicios Firebase</a:t>
                      </a:r>
                      <a:endParaRPr sz="1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Integrar la aplicación con servicios Firebase para permitir el registro e inicio de sesión con cuentas de email + contraseña y con Cloud Firestore para mantener las bases de datos en la nube.</a:t>
                      </a:r>
                      <a:endParaRPr sz="1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R.15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Mantener repositorio de 'Productos en el mercado'</a:t>
                      </a:r>
                      <a:endParaRPr sz="1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Crear un repositorio de 'Productos en el mercado' con la capacidad de ser actualizado con nuevos registros.</a:t>
                      </a:r>
                      <a:endParaRPr sz="1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rgbClr val="1F1F1F"/>
                          </a:solidFill>
                        </a:rPr>
                        <a:t>R.19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Enviar notificaciones por correo electrónico</a:t>
                      </a:r>
                      <a:endParaRPr sz="1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Enviar notificaciones por correo electrónico a los usuarios en las siguientes situaciones: Cambio de contraseña.</a:t>
                      </a:r>
                      <a:endParaRPr sz="1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319100" y="1944226"/>
            <a:ext cx="4812900" cy="46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1100" u="sng">
                <a:solidFill>
                  <a:srgbClr val="000000"/>
                </a:solidFill>
              </a:rPr>
              <a:t>Entidades Principales:</a:t>
            </a:r>
            <a:endParaRPr sz="1100"/>
          </a:p>
          <a:p>
            <a:pPr indent="-16510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lang="es-CL" sz="1100">
                <a:solidFill>
                  <a:srgbClr val="000000"/>
                </a:solidFill>
              </a:rPr>
              <a:t>Usuario (PK): </a:t>
            </a:r>
            <a:r>
              <a:rPr b="1" lang="es-CL" sz="1100" u="sng">
                <a:solidFill>
                  <a:srgbClr val="000000"/>
                </a:solidFill>
              </a:rPr>
              <a:t> </a:t>
            </a:r>
            <a:r>
              <a:rPr lang="es-CL" sz="1100">
                <a:solidFill>
                  <a:srgbClr val="000000"/>
                </a:solidFill>
              </a:rPr>
              <a:t>Representa a los usuarios del sistema.</a:t>
            </a:r>
            <a:endParaRPr sz="1100"/>
          </a:p>
          <a:p>
            <a:pPr indent="-16510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lang="es-CL" sz="1100">
                <a:solidFill>
                  <a:srgbClr val="000000"/>
                </a:solidFill>
              </a:rPr>
              <a:t>Producto: </a:t>
            </a:r>
            <a:r>
              <a:rPr lang="es-CL" sz="1100">
                <a:solidFill>
                  <a:srgbClr val="000000"/>
                </a:solidFill>
              </a:rPr>
              <a:t>Representa el articulo coleccionable </a:t>
            </a:r>
            <a:endParaRPr sz="1100"/>
          </a:p>
          <a:p>
            <a:pPr indent="-16510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lang="es-CL" sz="1100">
                <a:solidFill>
                  <a:srgbClr val="000000"/>
                </a:solidFill>
              </a:rPr>
              <a:t>Colección : </a:t>
            </a:r>
            <a:r>
              <a:rPr lang="es-CL" sz="1100">
                <a:solidFill>
                  <a:srgbClr val="000000"/>
                </a:solidFill>
              </a:rPr>
              <a:t>Representa una colección creada por un usuario. Un usuario puede tener varias colecciones.</a:t>
            </a:r>
            <a:endParaRPr sz="1100"/>
          </a:p>
          <a:p>
            <a:pPr indent="-16510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lang="es-CL" sz="1100">
                <a:solidFill>
                  <a:srgbClr val="000000"/>
                </a:solidFill>
              </a:rPr>
              <a:t>ItemColeccion: </a:t>
            </a:r>
            <a:r>
              <a:rPr lang="es-CL" sz="1100">
                <a:solidFill>
                  <a:srgbClr val="000000"/>
                </a:solidFill>
              </a:rPr>
              <a:t>Representa un producto específico que ha sido añadido a una colección de un usuario. Es el vínculo entre Producto y Colección.</a:t>
            </a:r>
            <a:endParaRPr sz="1100"/>
          </a:p>
          <a:p>
            <a:pPr indent="-16510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lang="es-CL" sz="1100">
                <a:solidFill>
                  <a:srgbClr val="000000"/>
                </a:solidFill>
              </a:rPr>
              <a:t>ProductoRepositorio: </a:t>
            </a:r>
            <a:r>
              <a:rPr lang="es-CL" sz="1100">
                <a:solidFill>
                  <a:srgbClr val="000000"/>
                </a:solidFill>
              </a:rPr>
              <a:t>tabla que gestiona la información de inventario o disponibilidad de un Producto específico en un repositorio  y sirve como punto de referencia para el historial de precios.</a:t>
            </a:r>
            <a:endParaRPr sz="1100"/>
          </a:p>
          <a:p>
            <a:pPr indent="-16510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lang="es-CL" sz="1100">
                <a:solidFill>
                  <a:srgbClr val="000000"/>
                </a:solidFill>
              </a:rPr>
              <a:t>HistorialPrecios : </a:t>
            </a:r>
            <a:r>
              <a:rPr lang="es-CL" sz="1100">
                <a:solidFill>
                  <a:srgbClr val="000000"/>
                </a:solidFill>
              </a:rPr>
              <a:t>Registra los cambios de precio a lo largo del tiempo para los productos listados en el repositorio</a:t>
            </a:r>
            <a:endParaRPr sz="1100"/>
          </a:p>
          <a:p>
            <a:pPr indent="-16510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lang="es-CL" sz="1100">
                <a:solidFill>
                  <a:srgbClr val="000000"/>
                </a:solidFill>
              </a:rPr>
              <a:t>ClasificacionImagen: </a:t>
            </a:r>
            <a:r>
              <a:rPr lang="es-CL" sz="1100">
                <a:solidFill>
                  <a:srgbClr val="000000"/>
                </a:solidFill>
              </a:rPr>
              <a:t>Almacena resultados de un proceso de </a:t>
            </a:r>
            <a:r>
              <a:rPr b="1" lang="es-CL" sz="1100">
                <a:solidFill>
                  <a:srgbClr val="000000"/>
                </a:solidFill>
              </a:rPr>
              <a:t>detección/clasificación por Inteligencia Artificial (IA)</a:t>
            </a:r>
            <a:r>
              <a:rPr lang="es-CL" sz="1100">
                <a:solidFill>
                  <a:srgbClr val="000000"/>
                </a:solidFill>
              </a:rPr>
              <a:t> asociado a un producto.</a:t>
            </a:r>
            <a:endParaRPr b="1" sz="1100" u="sng">
              <a:solidFill>
                <a:srgbClr val="000000"/>
              </a:solidFill>
            </a:endParaRPr>
          </a:p>
          <a:p>
            <a:pPr indent="-1841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rbel"/>
              <a:buNone/>
            </a:pPr>
            <a:r>
              <a:t/>
            </a:r>
            <a:endParaRPr b="1" sz="16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3632" y="1671513"/>
            <a:ext cx="6361428" cy="4260726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44" name="Google Shape;144;p9"/>
          <p:cNvSpPr txBox="1"/>
          <p:nvPr/>
        </p:nvSpPr>
        <p:spPr>
          <a:xfrm>
            <a:off x="725714" y="1712687"/>
            <a:ext cx="1082503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9" title="Diagrama de casos de Uso (1).png"/>
          <p:cNvPicPr preferRelativeResize="0"/>
          <p:nvPr/>
        </p:nvPicPr>
        <p:blipFill rotWithShape="1">
          <a:blip r:embed="rId3">
            <a:alphaModFix/>
          </a:blip>
          <a:srcRect b="0" l="4362" r="3207" t="0"/>
          <a:stretch/>
        </p:blipFill>
        <p:spPr>
          <a:xfrm>
            <a:off x="5133528" y="1868250"/>
            <a:ext cx="6733737" cy="43719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9"/>
          <p:cNvSpPr txBox="1"/>
          <p:nvPr/>
        </p:nvSpPr>
        <p:spPr>
          <a:xfrm>
            <a:off x="725737" y="2276414"/>
            <a:ext cx="44607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rgbClr val="000000"/>
                </a:solidFill>
              </a:rPr>
              <a:t>Este Diagrama de Casos de Uso describe las funciones de una </a:t>
            </a:r>
            <a:r>
              <a:rPr b="1" lang="es-CL" sz="1500">
                <a:solidFill>
                  <a:srgbClr val="000000"/>
                </a:solidFill>
              </a:rPr>
              <a:t>aplicación de coleccionables</a:t>
            </a:r>
            <a:r>
              <a:rPr lang="es-CL" sz="1500">
                <a:solidFill>
                  <a:srgbClr val="000000"/>
                </a:solidFill>
              </a:rPr>
              <a:t> centrada en: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-27940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lang="es-CL" sz="1500">
                <a:solidFill>
                  <a:srgbClr val="000000"/>
                </a:solidFill>
              </a:rPr>
              <a:t>Gestión de Usuario</a:t>
            </a:r>
            <a:r>
              <a:rPr lang="es-CL" sz="1500">
                <a:solidFill>
                  <a:srgbClr val="000000"/>
                </a:solidFill>
              </a:rPr>
              <a:t> (registro, inicio de sesión, edición de perfil).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-27940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lang="es-CL" sz="1500">
                <a:solidFill>
                  <a:srgbClr val="000000"/>
                </a:solidFill>
              </a:rPr>
              <a:t>Gestión de Colecciones y Productos</a:t>
            </a:r>
            <a:r>
              <a:rPr lang="es-CL" sz="1500">
                <a:solidFill>
                  <a:srgbClr val="000000"/>
                </a:solidFill>
              </a:rPr>
              <a:t> (crear, buscar, eliminar).</a:t>
            </a:r>
            <a:endParaRPr sz="1300"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-27940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1" lang="es-CL" sz="1500">
                <a:solidFill>
                  <a:srgbClr val="000000"/>
                </a:solidFill>
              </a:rPr>
              <a:t>Registro Inteligente de Productos</a:t>
            </a:r>
            <a:r>
              <a:rPr lang="es-CL" sz="1500">
                <a:solidFill>
                  <a:srgbClr val="000000"/>
                </a:solidFill>
              </a:rPr>
              <a:t> mediante la </a:t>
            </a:r>
            <a:r>
              <a:rPr b="1" lang="es-CL" sz="1500">
                <a:solidFill>
                  <a:srgbClr val="000000"/>
                </a:solidFill>
              </a:rPr>
              <a:t>cámara y un servicio de IA externa (Roboflow)</a:t>
            </a:r>
            <a:r>
              <a:rPr lang="es-CL" sz="1500">
                <a:solidFill>
                  <a:srgbClr val="000000"/>
                </a:solidFill>
              </a:rPr>
              <a:t>.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-27940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•"/>
            </a:pPr>
            <a:r>
              <a:rPr b="1" lang="es-CL" sz="1500">
                <a:solidFill>
                  <a:srgbClr val="000000"/>
                </a:solidFill>
              </a:rPr>
              <a:t>Registro Manual de Producto.</a:t>
            </a:r>
            <a:endParaRPr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graphicFrame>
        <p:nvGraphicFramePr>
          <p:cNvPr id="152" name="Google Shape;152;p10"/>
          <p:cNvGraphicFramePr/>
          <p:nvPr/>
        </p:nvGraphicFramePr>
        <p:xfrm>
          <a:off x="984150" y="262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{132D16E6-58C1-40DD-A2B4-E11CACF0411C}</a:tableStyleId>
              </a:tblPr>
              <a:tblGrid>
                <a:gridCol w="1711450"/>
                <a:gridCol w="1159650"/>
                <a:gridCol w="7301625"/>
              </a:tblGrid>
              <a:tr h="45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>
                          <a:solidFill>
                            <a:srgbClr val="1F1F1F"/>
                          </a:solidFill>
                        </a:rPr>
                        <a:t>Componente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>
                          <a:solidFill>
                            <a:srgbClr val="1F1F1F"/>
                          </a:solidFill>
                        </a:rPr>
                        <a:t>Tecnología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>
                          <a:solidFill>
                            <a:srgbClr val="1F1F1F"/>
                          </a:solidFill>
                        </a:rPr>
                        <a:t>Propósito Clave (DAS)</a:t>
                      </a:r>
                      <a:endParaRPr b="1" sz="13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7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1F1F1F"/>
                          </a:solidFill>
                        </a:rPr>
                        <a:t>Desarrollo Front-End</a:t>
                      </a:r>
                      <a:endParaRPr b="1"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1F1F1F"/>
                          </a:solidFill>
                        </a:rPr>
                        <a:t>Flutter</a:t>
                      </a:r>
                      <a:endParaRPr b="1"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1F1F1F"/>
                          </a:solidFill>
                        </a:rPr>
                        <a:t>Framework de Google para el desarrollo </a:t>
                      </a:r>
                      <a:r>
                        <a:rPr b="1" lang="es-CL" sz="1200">
                          <a:solidFill>
                            <a:srgbClr val="1F1F1F"/>
                          </a:solidFill>
                        </a:rPr>
                        <a:t>multiplataforma</a:t>
                      </a:r>
                      <a:r>
                        <a:rPr lang="es-CL" sz="1200">
                          <a:solidFill>
                            <a:srgbClr val="1F1F1F"/>
                          </a:solidFill>
                        </a:rPr>
                        <a:t> (Android y Windows), permitiendo una única base de código.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E81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1F1F1F"/>
                          </a:solidFill>
                        </a:rPr>
                        <a:t>Back-End y Base de Datos</a:t>
                      </a:r>
                      <a:endParaRPr b="1"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1F1F1F"/>
                          </a:solidFill>
                        </a:rPr>
                        <a:t>Firebase</a:t>
                      </a:r>
                      <a:endParaRPr b="1"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1F1F1F"/>
                          </a:solidFill>
                        </a:rPr>
                        <a:t>Conjunto de servicios en la nube de Google. Utilizado para la </a:t>
                      </a:r>
                      <a:r>
                        <a:rPr b="1" lang="es-CL" sz="1200">
                          <a:solidFill>
                            <a:srgbClr val="1F1F1F"/>
                          </a:solidFill>
                        </a:rPr>
                        <a:t>Autenticación </a:t>
                      </a:r>
                      <a:r>
                        <a:rPr lang="es-CL" sz="1200">
                          <a:solidFill>
                            <a:srgbClr val="1F1F1F"/>
                          </a:solidFill>
                        </a:rPr>
                        <a:t> y la </a:t>
                      </a:r>
                      <a:r>
                        <a:rPr b="1" lang="es-CL" sz="1200">
                          <a:solidFill>
                            <a:srgbClr val="1F1F1F"/>
                          </a:solidFill>
                        </a:rPr>
                        <a:t>Base de Datos NoSQL</a:t>
                      </a:r>
                      <a:r>
                        <a:rPr lang="es-CL" sz="1200">
                          <a:solidFill>
                            <a:srgbClr val="1F1F1F"/>
                          </a:solidFill>
                        </a:rPr>
                        <a:t> (soporte a Diccionario de Datos).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1F1F1F"/>
                          </a:solidFill>
                        </a:rPr>
                        <a:t>Servicio de Clasificación</a:t>
                      </a:r>
                      <a:endParaRPr b="1"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1F1F1F"/>
                          </a:solidFill>
                        </a:rPr>
                        <a:t>API de Roboflow</a:t>
                      </a:r>
                      <a:endParaRPr b="1"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1F1F1F"/>
                          </a:solidFill>
                        </a:rPr>
                        <a:t>Inteligencia Artificial (IA).</a:t>
                      </a:r>
                      <a:r>
                        <a:rPr lang="es-CL" sz="1200">
                          <a:solidFill>
                            <a:srgbClr val="1F1F1F"/>
                          </a:solidFill>
                        </a:rPr>
                        <a:t> Servicio externo utilizado para el proceso de </a:t>
                      </a:r>
                      <a:r>
                        <a:rPr b="1" lang="es-CL" sz="1200">
                          <a:solidFill>
                            <a:srgbClr val="1F1F1F"/>
                          </a:solidFill>
                        </a:rPr>
                        <a:t>Clasificación de Imágenes</a:t>
                      </a:r>
                      <a:r>
                        <a:rPr lang="es-CL" sz="1200">
                          <a:solidFill>
                            <a:srgbClr val="1F1F1F"/>
                          </a:solidFill>
                        </a:rPr>
                        <a:t>.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1F1F1F"/>
                          </a:solidFill>
                        </a:rPr>
                        <a:t>Lenguaje de Programación</a:t>
                      </a:r>
                      <a:endParaRPr b="1"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rgbClr val="1F1F1F"/>
                          </a:solidFill>
                        </a:rPr>
                        <a:t>Dart</a:t>
                      </a:r>
                      <a:endParaRPr b="1"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1F1F1F"/>
                          </a:solidFill>
                        </a:rPr>
                        <a:t>Lenguaje nativo de Flutter, utilizado para toda la lógica de negocio.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6410" y="1689631"/>
            <a:ext cx="2462213" cy="66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3813" y="1198337"/>
            <a:ext cx="1752597" cy="500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44010" y="637766"/>
            <a:ext cx="2238376" cy="1147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922606" y="1843646"/>
            <a:ext cx="49908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de los hitos significativos del proyecto </a:t>
            </a:r>
            <a:endParaRPr/>
          </a:p>
        </p:txBody>
      </p:sp>
      <p:graphicFrame>
        <p:nvGraphicFramePr>
          <p:cNvPr id="162" name="Google Shape;162;p11"/>
          <p:cNvGraphicFramePr/>
          <p:nvPr/>
        </p:nvGraphicFramePr>
        <p:xfrm>
          <a:off x="1692814" y="36085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{5133A580-90D6-4E03-9F9D-8B30B89F49B1}</a:tableStyleId>
              </a:tblPr>
              <a:tblGrid>
                <a:gridCol w="5865750"/>
                <a:gridCol w="2940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600" u="none" cap="none" strike="noStrike">
                          <a:solidFill>
                            <a:srgbClr val="FFFFFF"/>
                          </a:solidFill>
                        </a:rPr>
                        <a:t>Nombre Fase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600" u="none" cap="none" strike="noStrike">
                          <a:solidFill>
                            <a:srgbClr val="FFFFFF"/>
                          </a:solidFill>
                        </a:rPr>
                        <a:t>Fechas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4472C4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Documentación de Definición</a:t>
                      </a:r>
                      <a:r>
                        <a:rPr lang="es-CL" sz="1600" u="none" cap="none" strike="noStrike"/>
                        <a:t> (Sprint 1)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/>
                        <a:t>11 de Septiembre 2025 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362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Desarrollo de la aplicación base sin IA</a:t>
                      </a:r>
                      <a:r>
                        <a:rPr lang="es-CL" sz="1600" u="none" cap="none" strike="noStrike"/>
                        <a:t> (Sprint 2)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/>
                        <a:t>20</a:t>
                      </a:r>
                      <a:r>
                        <a:rPr lang="es-CL" sz="1600" u="none" cap="none" strike="noStrike"/>
                        <a:t> de </a:t>
                      </a:r>
                      <a:r>
                        <a:rPr lang="es-CL" sz="1600"/>
                        <a:t>Noviembre </a:t>
                      </a:r>
                      <a:r>
                        <a:rPr lang="es-CL" sz="1600" u="none" cap="none" strike="noStrike"/>
                        <a:t>2025 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Integración de modelo IA</a:t>
                      </a:r>
                      <a:r>
                        <a:rPr lang="es-CL" sz="1600" u="none" cap="none" strike="noStrike"/>
                        <a:t> (Sprint 3)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/>
                        <a:t>2</a:t>
                      </a:r>
                      <a:r>
                        <a:rPr lang="es-CL" sz="1600"/>
                        <a:t>0 </a:t>
                      </a:r>
                      <a:r>
                        <a:rPr lang="es-CL" sz="1600" u="none" cap="none" strike="noStrike"/>
                        <a:t>de </a:t>
                      </a:r>
                      <a:r>
                        <a:rPr lang="es-CL" sz="1600">
                          <a:solidFill>
                            <a:schemeClr val="dk1"/>
                          </a:solidFill>
                        </a:rPr>
                        <a:t>Noviembre </a:t>
                      </a:r>
                      <a:r>
                        <a:rPr lang="es-CL" sz="1600" u="none" cap="none" strike="noStrike"/>
                        <a:t>2025 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L" sz="1600" u="none" cap="none" strike="noStrike"/>
                        <a:t>Certificación QA y </a:t>
                      </a:r>
                      <a:r>
                        <a:rPr b="1" lang="es-CL" sz="1600"/>
                        <a:t>Cierre de Proyecto</a:t>
                      </a:r>
                      <a:r>
                        <a:rPr lang="es-CL" sz="1600" u="none" cap="none" strike="noStrike"/>
                        <a:t> (Sprint 4)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/>
                        <a:t>09</a:t>
                      </a:r>
                      <a:r>
                        <a:rPr lang="es-CL" sz="1600" u="none" cap="none" strike="noStrike"/>
                        <a:t> de Diciembre 2025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Presentación Final del Proyecto</a:t>
                      </a:r>
                      <a:r>
                        <a:rPr lang="es-CL" sz="1600" u="none" cap="none" strike="noStrike"/>
                        <a:t> (Sprint 5)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/>
                        <a:t>09</a:t>
                      </a:r>
                      <a:r>
                        <a:rPr lang="es-CL" sz="1600" u="none" cap="none" strike="noStrike"/>
                        <a:t> de Diciembre 2025 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63" name="Google Shape;163;p11"/>
          <p:cNvSpPr txBox="1"/>
          <p:nvPr/>
        </p:nvSpPr>
        <p:spPr>
          <a:xfrm>
            <a:off x="922631" y="2436859"/>
            <a:ext cx="49908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se desarrolló con la metodología 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5 Sprints. 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hitos principales son: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671244" y="827315"/>
            <a:ext cx="105156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L" sz="3600"/>
              <a:t>Plan de Pruebas Desarrollo</a:t>
            </a:r>
            <a:endParaRPr/>
          </a:p>
        </p:txBody>
      </p:sp>
      <p:sp>
        <p:nvSpPr>
          <p:cNvPr id="169" name="Google Shape;169;p12"/>
          <p:cNvSpPr txBox="1"/>
          <p:nvPr/>
        </p:nvSpPr>
        <p:spPr>
          <a:xfrm>
            <a:off x="671250" y="1690925"/>
            <a:ext cx="106827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/>
              <a:t>Calidad del Plan de Pruebas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/>
              <a:t> componentes clave del proyecto ColecciónAPP: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CL"/>
              <a:t>Módulo de usuario</a:t>
            </a:r>
            <a:br>
              <a:rPr lang="es-CL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CL"/>
              <a:t>Colecciones (CRUD)</a:t>
            </a:r>
            <a:br>
              <a:rPr lang="es-CL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CL"/>
              <a:t>Integración con Firebase y Roboflow</a:t>
            </a:r>
            <a:br>
              <a:rPr lang="es-CL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CL"/>
              <a:t>Rendimiento (≤7 segundos)</a:t>
            </a:r>
            <a:br>
              <a:rPr lang="es-CL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CL"/>
              <a:t>Usabilidad y UI/UX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" name="Google Shape;170;p12"/>
          <p:cNvSpPr txBox="1"/>
          <p:nvPr/>
        </p:nvSpPr>
        <p:spPr>
          <a:xfrm>
            <a:off x="762000" y="4591050"/>
            <a:ext cx="70485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/>
              <a:t>Los resultados  indican que el proyecto cumplió su criterio de certificación: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/>
              <a:t>95% de casos aprobados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/>
              <a:t>0 defectos críticos o graves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/>
              <a:t>Cumplimiento de rendimiento y usabilidad</a:t>
            </a:r>
            <a:endParaRPr sz="1300"/>
          </a:p>
        </p:txBody>
      </p:sp>
      <p:pic>
        <p:nvPicPr>
          <p:cNvPr id="171" name="Google Shape;17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8712" y="1941200"/>
            <a:ext cx="3974788" cy="264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/>
          <p:nvPr/>
        </p:nvSpPr>
        <p:spPr>
          <a:xfrm>
            <a:off x="457158" y="8642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Prototipo o Resultado del Proyecto (Sistema)</a:t>
            </a:r>
            <a:endParaRPr/>
          </a:p>
        </p:txBody>
      </p:sp>
      <p:pic>
        <p:nvPicPr>
          <p:cNvPr id="177" name="Google Shape;1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538" y="2272408"/>
            <a:ext cx="9141267" cy="4363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900" y="2272408"/>
            <a:ext cx="1963537" cy="4363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/>
          <p:nvPr>
            <p:ph type="title"/>
          </p:nvPr>
        </p:nvSpPr>
        <p:spPr>
          <a:xfrm>
            <a:off x="838200" y="974938"/>
            <a:ext cx="10515600" cy="672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Reflexión Final</a:t>
            </a:r>
            <a:endParaRPr/>
          </a:p>
        </p:txBody>
      </p:sp>
      <p:sp>
        <p:nvSpPr>
          <p:cNvPr id="184" name="Google Shape;184;p14"/>
          <p:cNvSpPr/>
          <p:nvPr/>
        </p:nvSpPr>
        <p:spPr>
          <a:xfrm>
            <a:off x="903515" y="1647372"/>
            <a:ext cx="9670961" cy="333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Lecciones Aprendidas y Obstáculos presentados con la Experiencia.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principales obstáculos que se vivieron como equipo?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los evitaría para un próximo proyecto?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casos más complejos en desarrollar?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¿Perciben un crecimiento en su capacidad para desarrollar proyectos informáticos reales?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principales auto-aprendizajes que han logrado en el proceso?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838200" y="974938"/>
            <a:ext cx="10515600" cy="672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Responder las Preguntas del Proyecto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